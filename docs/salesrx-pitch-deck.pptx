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per rep/month</c:v>
                </c:pt>
              </c:strCache>
            </c:strRef>
          </c:tx>
          <c:spPr>
            <a:solidFill>
              <a:srgbClr val="0E8C55">
                <a:alpha val="100000"/>
              </a:srgbClr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4F6F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E8C5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158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A44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Revenue</c:v>
                  </c:pt>
                  <c:pt idx="1">
                    <c:v>AI + data cost (~30 briefs)</c:v>
                  </c:pt>
                  <c:pt idx="2">
                    <c:v>Gross profit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12</c:v>
                </c:pt>
                <c:pt idx="2">
                  <c:v>37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4F6F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F4F6F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2344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97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SalesRx: pre-meeting intelligence for sales reps. One line: we make every rep walk into every meeting already knowing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72%: Salesforce State of Sales (reps' non-selling time). 4-6x: signal-based outreach conversion vs static lists (industry analyses, e.g. Autobound/SyncGTM 2026). Verify current editions before investor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pillars: Research (speed + evidence), Personalize (rep profile + NEPQ selling methodology), Remember (compounding account memory).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Pipeline: entity resolution -&gt; parallel signal collection (APIs + LLM web-search agent) -&gt; one synthesis call -&gt; brief JSON. Cost per brief $0.25-1.00, cached 24h.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Mock brief for illustration. Every element shown is generated by the shipping product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Technographics market figures: Crustdata/industry 2026 ($367M in 2020 to $1B+ by 2026, 26.1% CAGR). ZoomInfo entry pricing ~$14,995/yr. Verify current numbers before final investor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Positioning: not a data vendor. The unit of value is a prepared rep, not a record. Memory + personalization + workflow = defensibility.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COGS: enrichment $0.05-0.30 + signals $0.05-0.20 + LLM $0.10-0.40 per brief; ~30 briefs/rep/mo with caching =&gt; ~$12 COGS on $49 Pro. Illustrative, not audited.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framing: pre-revenue, product-complete through v1.2. Next milestone: 20 design-partner reps, measure meeting-to-next-step conversion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" y="1874520"/>
            <a:ext cx="1069848" cy="137160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Shape 1"/>
          <p:cNvSpPr/>
          <p:nvPr/>
        </p:nvSpPr>
        <p:spPr>
          <a:xfrm>
            <a:off x="1285098" y="1874520"/>
            <a:ext cx="1069848" cy="1371600"/>
          </a:xfrm>
          <a:prstGeom prst="chevron">
            <a:avLst/>
          </a:prstGeom>
          <a:solidFill>
            <a:srgbClr val="F4F6F8"/>
          </a:solidFill>
          <a:ln/>
        </p:spPr>
      </p:sp>
      <p:sp>
        <p:nvSpPr>
          <p:cNvPr id="4" name="Shape 2"/>
          <p:cNvSpPr/>
          <p:nvPr/>
        </p:nvSpPr>
        <p:spPr>
          <a:xfrm>
            <a:off x="2354946" y="1792224"/>
            <a:ext cx="219456" cy="219456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5" name="Text 3"/>
          <p:cNvSpPr/>
          <p:nvPr/>
        </p:nvSpPr>
        <p:spPr>
          <a:xfrm>
            <a:off x="3703320" y="16459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b="1" spc="1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</a:t>
            </a:r>
            <a:pPr algn="l" indent="0" marL="0">
              <a:buNone/>
            </a:pPr>
            <a:r>
              <a:rPr lang="en-US" sz="6600" b="1" spc="1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RX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3749040" y="27614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IN ALREADY KNOWING.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749040" y="3291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sales intelligence that researches every prospect, personalizes the plan to each rep, and remembers every meeting.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1792" y="5394960"/>
            <a:ext cx="10945368" cy="0"/>
          </a:xfrm>
          <a:prstGeom prst="line">
            <a:avLst/>
          </a:prstGeom>
          <a:noFill/>
          <a:ln w="12700">
            <a:solidFill>
              <a:srgbClr val="2234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5623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 ·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863840" y="5623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Luke Jian · jian.lucian@gmail.com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Reps walk in blind — and buyers can tell.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3520440" cy="3977640"/>
          </a:xfrm>
          <a:prstGeom prst="roundRect">
            <a:avLst>
              <a:gd name="adj" fmla="val 155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48840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86968" y="3520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 rep's time is spent NOT selling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86968" y="4224528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Research, admin and prep eat the week. Real prospect research gets skipped — or done badly at 11pm before the meeting.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70832" y="1828800"/>
            <a:ext cx="3520440" cy="3977640"/>
          </a:xfrm>
          <a:prstGeom prst="roundRect">
            <a:avLst>
              <a:gd name="adj" fmla="val 155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148840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45152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9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4400" dirty="0"/>
          </a:p>
        </p:txBody>
      </p:sp>
      <p:sp>
        <p:nvSpPr>
          <p:cNvPr id="13" name="Text 9"/>
          <p:cNvSpPr/>
          <p:nvPr/>
        </p:nvSpPr>
        <p:spPr>
          <a:xfrm>
            <a:off x="4663440" y="3520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lose credibility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4663440" y="4224528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decide fast. A generic pitch that ignores their stack, their news and their pain reads as disrespect.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147304" y="1828800"/>
            <a:ext cx="3520440" cy="3977640"/>
          </a:xfrm>
          <a:prstGeom prst="roundRect">
            <a:avLst>
              <a:gd name="adj" fmla="val 155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9912" y="2148840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21624" y="26974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4–6×</a:t>
            </a:r>
            <a:endParaRPr lang="en-US" sz="4400" dirty="0"/>
          </a:p>
        </p:txBody>
      </p:sp>
      <p:sp>
        <p:nvSpPr>
          <p:cNvPr id="18" name="Text 13"/>
          <p:cNvSpPr/>
          <p:nvPr/>
        </p:nvSpPr>
        <p:spPr>
          <a:xfrm>
            <a:off x="8439912" y="352044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conversion with signal-based outreach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8439912" y="4224528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 and relevance beat volume — but most teams have no system that watches signals for them.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corner team for every rep.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fighter's corner: SalesRx studies the opponent, knows your strengths, and hands you the game plan before the bell.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24028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6968" y="2560320"/>
            <a:ext cx="603504" cy="603504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679192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86968" y="38404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web research + verified job-posting and technographic data on any prospect, in 60 seconds. Every claim carries a source.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160520" y="3794760"/>
            <a:ext cx="237744" cy="36576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12" name="Shape 9"/>
          <p:cNvSpPr/>
          <p:nvPr/>
        </p:nvSpPr>
        <p:spPr>
          <a:xfrm>
            <a:off x="4370832" y="224028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663440" y="2560320"/>
            <a:ext cx="603504" cy="603504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2" y="2679192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63440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663440" y="38404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are shaped by the rep's own profile — competitors, moat, territory. Pain points come with ready-to-ask NEPQ question ladders.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936992" y="3794760"/>
            <a:ext cx="237744" cy="36576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18" name="Shape 14"/>
          <p:cNvSpPr/>
          <p:nvPr/>
        </p:nvSpPr>
        <p:spPr>
          <a:xfrm>
            <a:off x="8147304" y="224028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439912" y="2560320"/>
            <a:ext cx="603504" cy="603504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8784" y="2679192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439912" y="33832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8439912" y="3840480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notes become account memory. Brief #2 knows what happened in meeting #1 — the product compounds with use.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4" name="Text 19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name to a battle plan in one minute.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2267712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50392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 + PROSPECT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50392" y="329184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 profile (moat, competitors) + a company name or domain. Or auto-detected from the calendar.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3383280"/>
            <a:ext cx="237744" cy="36576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11" name="Shape 8"/>
          <p:cNvSpPr/>
          <p:nvPr/>
        </p:nvSpPr>
        <p:spPr>
          <a:xfrm>
            <a:off x="3538728" y="196596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794760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267712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794760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SWEEP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794760" y="329184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News, funding, exec moves, hiring waves, tech stack — live web research plus verified job-posting data.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190488" y="3383280"/>
            <a:ext cx="237744" cy="36576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17" name="Shape 13"/>
          <p:cNvSpPr/>
          <p:nvPr/>
        </p:nvSpPr>
        <p:spPr>
          <a:xfrm>
            <a:off x="6483096" y="196596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39128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267712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39128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SYNTHESIS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739128" y="329184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cross-references signals against the rep's edge. Every claim cited; thin evidence is labeled, never invented.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9134856" y="3383280"/>
            <a:ext cx="237744" cy="36576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23" name="Shape 18"/>
          <p:cNvSpPr/>
          <p:nvPr/>
        </p:nvSpPr>
        <p:spPr>
          <a:xfrm>
            <a:off x="9427464" y="1965960"/>
            <a:ext cx="2606040" cy="3200400"/>
          </a:xfrm>
          <a:prstGeom prst="roundRect">
            <a:avLst>
              <a:gd name="adj" fmla="val 2105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9683496" y="2194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93424" y="2267712"/>
            <a:ext cx="347472" cy="3474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683496" y="27432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9683496" y="3291840"/>
            <a:ext cx="2148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mobile-ready page: pain points, NEPQ ladders, decision map, objection forecast, fit score.</a:t>
            </a:r>
            <a:endParaRPr lang="en-US" sz="1050" dirty="0"/>
          </a:p>
        </p:txBody>
      </p:sp>
      <p:sp>
        <p:nvSpPr>
          <p:cNvPr id="28" name="Text 22"/>
          <p:cNvSpPr/>
          <p:nvPr/>
        </p:nvSpPr>
        <p:spPr>
          <a:xfrm>
            <a:off x="594360" y="55321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hood:  </a:t>
            </a:r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API with live web search · TheirStack technographics · SEC EDGAR + press feeds + earnings calls · Google/ICS calendar · HubSpot &amp; Salesforce sync · Docker + Postgres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30" name="Text 24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PRODUCT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rep reads in the parking lot.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475488" cy="475488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1883664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1728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Buying signals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234440" y="203911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Funding, exec moves, hiring waves — each with a source link and a date.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2834640"/>
            <a:ext cx="475488" cy="475488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2935224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34440" y="277977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NEPQ question ladders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234440" y="309067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detected pain mapped to Situation → Problem → Consequence → Solution questions, worded around their actual facts.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94360" y="3886200"/>
            <a:ext cx="475488" cy="475488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98678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234440" y="383133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map &amp; rapport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234440" y="414223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 buyer, champion, blocker — plus warm-intro paths and safe conversation starters.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594360" y="4937760"/>
            <a:ext cx="475488" cy="475488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38344"/>
            <a:ext cx="274320" cy="27432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34440" y="488289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Objection forecast</a:t>
            </a:r>
            <a:endParaRPr lang="en-US" sz="1450" dirty="0"/>
          </a:p>
        </p:txBody>
      </p:sp>
      <p:sp>
        <p:nvSpPr>
          <p:cNvPr id="20" name="Text 14"/>
          <p:cNvSpPr/>
          <p:nvPr/>
        </p:nvSpPr>
        <p:spPr>
          <a:xfrm>
            <a:off x="1234440" y="5193792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Predicted pushback given their incumbent vs. your moat, with question-based reframes.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6720840" y="1600200"/>
            <a:ext cx="4846320" cy="4434840"/>
          </a:xfrm>
          <a:prstGeom prst="roundRect">
            <a:avLst>
              <a:gd name="adj" fmla="val 123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7040880" y="18288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FOODS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7040880" y="21488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meridianfoods.com · Boston · F&amp;B distribution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10378440" y="1810512"/>
            <a:ext cx="914400" cy="777240"/>
          </a:xfrm>
          <a:prstGeom prst="roundRect">
            <a:avLst>
              <a:gd name="adj" fmla="val 7059"/>
            </a:avLst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10378440" y="1883664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10378440" y="22860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7040880" y="2788920"/>
            <a:ext cx="45720" cy="438912"/>
          </a:xfrm>
          <a:prstGeom prst="rect">
            <a:avLst/>
          </a:prstGeom>
          <a:solidFill>
            <a:srgbClr val="3DDC97"/>
          </a:solidFill>
          <a:ln/>
        </p:spPr>
      </p:sp>
      <p:sp>
        <p:nvSpPr>
          <p:cNvPr id="28" name="Text 22"/>
          <p:cNvSpPr/>
          <p:nvPr/>
        </p:nvSpPr>
        <p:spPr>
          <a:xfrm>
            <a:off x="7178040" y="2807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VP Supply Chain — 2 wks ago. 90-day vendor review window.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7040880" y="3355848"/>
            <a:ext cx="45720" cy="438912"/>
          </a:xfrm>
          <a:prstGeom prst="rect">
            <a:avLst/>
          </a:prstGeom>
          <a:solidFill>
            <a:srgbClr val="C8102E"/>
          </a:solidFill>
          <a:ln/>
        </p:spPr>
      </p:sp>
      <p:sp>
        <p:nvSpPr>
          <p:cNvPr id="30" name="Text 24"/>
          <p:cNvSpPr/>
          <p:nvPr/>
        </p:nvSpPr>
        <p:spPr>
          <a:xfrm>
            <a:off x="7178040" y="33741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Earnings call flagged $2.1M late-delivery penalties.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7040880" y="3922776"/>
            <a:ext cx="45720" cy="438912"/>
          </a:xfrm>
          <a:prstGeom prst="rect">
            <a:avLst/>
          </a:prstGeom>
          <a:solidFill>
            <a:srgbClr val="7FA3C7"/>
          </a:solidFill>
          <a:ln/>
        </p:spPr>
      </p:sp>
      <p:sp>
        <p:nvSpPr>
          <p:cNvPr id="32" name="Text 26"/>
          <p:cNvSpPr/>
          <p:nvPr/>
        </p:nvSpPr>
        <p:spPr>
          <a:xfrm>
            <a:off x="7178040" y="394106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 3 analysts — job posts confirm incumbent stack.</a:t>
            </a:r>
            <a:endParaRPr lang="en-US" sz="950" dirty="0"/>
          </a:p>
        </p:txBody>
      </p:sp>
      <p:sp>
        <p:nvSpPr>
          <p:cNvPr id="33" name="Shape 27"/>
          <p:cNvSpPr/>
          <p:nvPr/>
        </p:nvSpPr>
        <p:spPr>
          <a:xfrm>
            <a:off x="7040880" y="4572000"/>
            <a:ext cx="4206240" cy="1234440"/>
          </a:xfrm>
          <a:prstGeom prst="roundRect">
            <a:avLst>
              <a:gd name="adj" fmla="val 4444"/>
            </a:avLst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7223760" y="468172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7F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NEPQ · CONSEQUENCE</a:t>
            </a:r>
            <a:endParaRPr lang="en-US" sz="850" dirty="0"/>
          </a:p>
        </p:txBody>
      </p:sp>
      <p:sp>
        <p:nvSpPr>
          <p:cNvPr id="35" name="Text 29"/>
          <p:cNvSpPr/>
          <p:nvPr/>
        </p:nvSpPr>
        <p:spPr>
          <a:xfrm>
            <a:off x="7223760" y="491947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the penalty trend continues into peak season, what does that do to your top retail accounts?”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ingredients just became cheap.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5440680" cy="1783080"/>
          </a:xfrm>
          <a:prstGeom prst="roundRect">
            <a:avLst>
              <a:gd name="adj" fmla="val 307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167128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276856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075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research agents got real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600200" y="2459736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with live web search can produce cited, meeting-grade research in a minute — impossible two years ago.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1874520"/>
            <a:ext cx="5440680" cy="1783080"/>
          </a:xfrm>
          <a:prstGeom prst="roundRect">
            <a:avLst>
              <a:gd name="adj" fmla="val 307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37960" y="2167128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276856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075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data is commoditized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269480" y="2459736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Technographics grew $367M → $1B+ (26% CAGR). Job-post APIs now expose stack + hiring intent per company.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" y="3886200"/>
            <a:ext cx="5440680" cy="1783080"/>
          </a:xfrm>
          <a:prstGeom prst="roundRect">
            <a:avLst>
              <a:gd name="adj" fmla="val 307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4178808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288536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00200" y="4087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work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1600200" y="4471416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full researched brief costs $0.25–1.00 to produce. Enterprise data platforms still start at ~$15K/year.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63640" y="3886200"/>
            <a:ext cx="5440680" cy="1783080"/>
          </a:xfrm>
          <a:prstGeom prst="roundRect">
            <a:avLst>
              <a:gd name="adj" fmla="val 307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537960" y="4178808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4288536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69480" y="4087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Buyers punish generic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7269480" y="4471416"/>
            <a:ext cx="4251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Signal-based, relevant outreach converts 4–6× better. Relevance is no longer optional — it's the price of a reply.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6" name="Text 20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platforms sell lists. We sell readiness.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566160" y="1828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SELL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03720" y="18288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/ THE EDGE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212848"/>
            <a:ext cx="11265408" cy="804672"/>
          </a:xfrm>
          <a:prstGeom prst="roundRect">
            <a:avLst>
              <a:gd name="adj" fmla="val 681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3317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ZoomInfo / Apollo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566160" y="2331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&amp; firmographic databases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903720" y="23317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Data, not preparation — the rep still does the thinking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45536"/>
            <a:ext cx="11265408" cy="804672"/>
          </a:xfrm>
          <a:prstGeom prst="roundRect">
            <a:avLst>
              <a:gd name="adj" fmla="val 681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26440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RepVantage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566160" y="3264408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Field-sales briefs (beverage vertical)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03720" y="326440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Vertical-specific; no rep-profile personalization or memory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4078224"/>
            <a:ext cx="11265408" cy="804672"/>
          </a:xfrm>
          <a:prstGeom prst="roundRect">
            <a:avLst>
              <a:gd name="adj" fmla="val 6818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419709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Generic AI chat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4197096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Ad-hoc prompting per meeting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903720" y="4197096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signals, no citations, no memory, no workflow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5010912"/>
            <a:ext cx="11265408" cy="804672"/>
          </a:xfrm>
          <a:prstGeom prst="roundRect">
            <a:avLst>
              <a:gd name="adj" fmla="val 6818"/>
            </a:avLst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6928" y="5248656"/>
            <a:ext cx="219456" cy="329184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" y="512978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566160" y="5129784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brief + NEPQ plan, in the calendar &amp; CRM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903720" y="5129784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Compounds: every meeting logged makes the next brief smarter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Priced for one rep. Built to spread to the team.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1828800"/>
            <a:ext cx="4023360" cy="3931920"/>
          </a:xfrm>
          <a:prstGeom prst="roundRect">
            <a:avLst>
              <a:gd name="adj" fmla="val 1395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031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23774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$49</a:t>
            </a:r>
            <a:pPr indent="0" marL="0">
              <a:buNone/>
            </a:pPr>
            <a:r>
              <a:rPr lang="en-US" sz="14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/rep/mo</a:t>
            </a:r>
            <a:endParaRPr lang="en-US" sz="52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520440"/>
            <a:ext cx="237744" cy="23774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61872" y="34930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prospect briefs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97764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261872" y="39502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auto-brief + watchlist alerts</a:t>
            </a:r>
            <a:endParaRPr lang="en-US" sz="11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434840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61872" y="4407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NEPQ ladders &amp; objection forecasts</a:t>
            </a:r>
            <a:endParaRPr lang="en-US" sz="11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892040"/>
            <a:ext cx="237744" cy="23774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61872" y="48646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sync + account memory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914400" y="5394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tier: 5 briefs/mo — lands single reps; teams follow.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5074920" y="1828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UNIT ECONOMICS · PER REP / MONTH</a:t>
            </a:r>
            <a:endParaRPr lang="en-US" sz="105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5074920" y="2148840"/>
          <a:ext cx="64922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9" name="Text 12"/>
          <p:cNvSpPr/>
          <p:nvPr/>
        </p:nvSpPr>
        <p:spPr>
          <a:xfrm>
            <a:off x="5074920" y="5486400"/>
            <a:ext cx="6492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~75% gross margin at launch pricing · brief cost $0.25–1.00, cut further by 24h caching. Team tier at $79/rep — workspaces with shared memory shipped in v2.0.</a:t>
            </a:r>
            <a:endParaRPr lang="en-US" sz="1050" dirty="0"/>
          </a:p>
        </p:txBody>
      </p:sp>
      <p:sp>
        <p:nvSpPr>
          <p:cNvPr id="20" name="Text 13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1" name="Text 14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DEFENSIBILITY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is memory, not the model.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94360" y="148132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prompt an LLM. Nobody else holds the rep's history with every account.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5440680" cy="164592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404872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514600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Compounding account memory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600200" y="269748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logged meeting improves the next brief. Switching away means starting from zero — the data belongs to the workflow.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263640" y="2148840"/>
            <a:ext cx="5440680" cy="164592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537960" y="2404872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7688" y="2514600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69480" y="23317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Rep-level personalization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7269480" y="269748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Briefs are computed against each rep's moat, competitors and territory — not generic company summaries.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94360" y="4023360"/>
            <a:ext cx="5440680" cy="164592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68680" y="4279392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4389120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00200" y="4206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 lock-in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1600200" y="457200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Living in the calendar and CRM makes SalesRx the default motion: the brief is just there an hour before every meeting.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263640" y="4023360"/>
            <a:ext cx="5440680" cy="1645920"/>
          </a:xfrm>
          <a:prstGeom prst="roundRect">
            <a:avLst>
              <a:gd name="adj" fmla="val 3333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537960" y="4279392"/>
            <a:ext cx="548640" cy="548640"/>
          </a:xfrm>
          <a:prstGeom prst="ellipse">
            <a:avLst/>
          </a:prstGeom>
          <a:solidFill>
            <a:srgbClr val="122A47"/>
          </a:solidFill>
          <a:ln w="9525">
            <a:solidFill>
              <a:srgbClr val="22344E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4389120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269480" y="4206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 freshness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7269480" y="4572000"/>
            <a:ext cx="4251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Watchlists re-check accounts nightly and alert on deltas only. Timing advantages can't be copied after the fact.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489204"/>
            <a:ext cx="146304" cy="118872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Text 1"/>
          <p:cNvSpPr/>
          <p:nvPr/>
        </p:nvSpPr>
        <p:spPr>
          <a:xfrm>
            <a:off x="832104" y="40233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3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ARE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94360" y="74980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Built, shipping, and deployable today.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94360" y="2011680"/>
            <a:ext cx="2743200" cy="566928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· CORE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834640"/>
            <a:ext cx="2724912" cy="1920240"/>
          </a:xfrm>
          <a:prstGeom prst="roundRect">
            <a:avLst>
              <a:gd name="adj" fmla="val 285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3816" y="30175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AI research briefs, NEPQ ladders, verified hiring signals, watchlist alerts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3816" y="4407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538728" y="2011680"/>
            <a:ext cx="2743200" cy="566928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11" name="Text 9"/>
          <p:cNvSpPr/>
          <p:nvPr/>
        </p:nvSpPr>
        <p:spPr>
          <a:xfrm>
            <a:off x="3858768" y="20848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v1.2 · WORKFLOW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38728" y="2834640"/>
            <a:ext cx="2724912" cy="1920240"/>
          </a:xfrm>
          <a:prstGeom prst="roundRect">
            <a:avLst>
              <a:gd name="adj" fmla="val 285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58184" y="30175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auto-brief, HubSpot sync, post-meeting memory loop, Docker deploy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58184" y="4407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83096" y="2011680"/>
            <a:ext cx="2743200" cy="566928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16" name="Text 14"/>
          <p:cNvSpPr/>
          <p:nvPr/>
        </p:nvSpPr>
        <p:spPr>
          <a:xfrm>
            <a:off x="6803136" y="20848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· TEAMS + SOURCES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83096" y="2834640"/>
            <a:ext cx="2724912" cy="1920240"/>
          </a:xfrm>
          <a:prstGeom prst="roundRect">
            <a:avLst>
              <a:gd name="adj" fmla="val 285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02552" y="30175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Workspaces with shared memory, Postgres, Google OAuth, Salesforce, SEC filings + press + earnings-call excerpts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02552" y="4407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9427464" y="2011680"/>
            <a:ext cx="2743200" cy="566928"/>
          </a:xfrm>
          <a:prstGeom prst="chevron">
            <a:avLst/>
          </a:prstGeom>
          <a:solidFill>
            <a:srgbClr val="41586E"/>
          </a:solidFill>
          <a:ln/>
        </p:spPr>
      </p:sp>
      <p:sp>
        <p:nvSpPr>
          <p:cNvPr id="21" name="Text 19"/>
          <p:cNvSpPr/>
          <p:nvPr/>
        </p:nvSpPr>
        <p:spPr>
          <a:xfrm>
            <a:off x="9747504" y="20848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· SCALE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9427464" y="2834640"/>
            <a:ext cx="2724912" cy="1920240"/>
          </a:xfrm>
          <a:prstGeom prst="roundRect">
            <a:avLst>
              <a:gd name="adj" fmla="val 2857"/>
            </a:avLst>
          </a:prstGeom>
          <a:solidFill>
            <a:srgbClr val="0B1F3A"/>
          </a:solidFill>
          <a:ln w="9525">
            <a:solidFill>
              <a:srgbClr val="2234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46920" y="3017520"/>
            <a:ext cx="2331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 2, enterprise SSO, Microsoft calendar, mobile battle card, design partners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646920" y="440740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D9A4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codebase reality check:  </a:t>
            </a:r>
            <a:pPr indent="0" marL="0">
              <a:buNone/>
            </a:pPr>
            <a:r>
              <a:rPr lang="en-US" sz="12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product at github.com/sensware/salesrx — Next.js + Anthropic API, self-hostable via Docker in under 10 minutes.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12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74920" y="1371600"/>
            <a:ext cx="784555" cy="1005840"/>
          </a:xfrm>
          <a:prstGeom prst="chevron">
            <a:avLst/>
          </a:prstGeom>
          <a:solidFill>
            <a:srgbClr val="0E8C55"/>
          </a:solidFill>
          <a:ln/>
        </p:spPr>
      </p:sp>
      <p:sp>
        <p:nvSpPr>
          <p:cNvPr id="3" name="Shape 1"/>
          <p:cNvSpPr/>
          <p:nvPr/>
        </p:nvSpPr>
        <p:spPr>
          <a:xfrm>
            <a:off x="5561344" y="1371600"/>
            <a:ext cx="784555" cy="1005840"/>
          </a:xfrm>
          <a:prstGeom prst="chevron">
            <a:avLst/>
          </a:prstGeom>
          <a:solidFill>
            <a:srgbClr val="F4F6F8"/>
          </a:solidFill>
          <a:ln/>
        </p:spPr>
      </p:sp>
      <p:sp>
        <p:nvSpPr>
          <p:cNvPr id="4" name="Shape 2"/>
          <p:cNvSpPr/>
          <p:nvPr/>
        </p:nvSpPr>
        <p:spPr>
          <a:xfrm>
            <a:off x="6345899" y="1311250"/>
            <a:ext cx="160934" cy="160934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2743200"/>
            <a:ext cx="11000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in </a:t>
            </a:r>
            <a:pPr algn="ctr" indent="0" marL="0">
              <a:buNone/>
            </a:pPr>
            <a:r>
              <a:rPr lang="en-US" sz="4400" b="1" dirty="0">
                <a:solidFill>
                  <a:srgbClr val="3DDC9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knowing</a:t>
            </a:r>
            <a:pPr algn="ctr" indent="0" marL="0">
              <a:buNone/>
            </a:pPr>
            <a:r>
              <a:rPr lang="en-US" sz="4400" b="1" dirty="0">
                <a:solidFill>
                  <a:srgbClr val="F4F6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94360" y="3794760"/>
            <a:ext cx="11000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Seeking design partners and seed conversations — help us arm the first 1,000 reps.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023360" y="4709160"/>
            <a:ext cx="4142232" cy="0"/>
          </a:xfrm>
          <a:prstGeom prst="line">
            <a:avLst/>
          </a:prstGeom>
          <a:noFill/>
          <a:ln w="12700">
            <a:solidFill>
              <a:srgbClr val="2234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4892040"/>
            <a:ext cx="11000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FA3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Luke Jian · jian.lucian@gmail.com · github.com/sensware/salesrx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64739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SALESRX · CONFIDENTIAL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1292840" y="6473952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158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2026-07-17T06:55:28Z</dcterms:created>
  <dcterms:modified xsi:type="dcterms:W3CDTF">2026-07-17T06:55:28Z</dcterms:modified>
</cp:coreProperties>
</file>